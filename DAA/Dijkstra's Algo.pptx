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chatgpt://generic-entity?number=0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eethanjali College of Engineering…"/>
          <p:cNvSpPr txBox="1"/>
          <p:nvPr>
            <p:ph type="ctrTitle"/>
          </p:nvPr>
        </p:nvSpPr>
        <p:spPr>
          <a:xfrm>
            <a:off x="3690033" y="2253755"/>
            <a:ext cx="18651517" cy="4520355"/>
          </a:xfrm>
          <a:prstGeom prst="rect">
            <a:avLst/>
          </a:prstGeom>
        </p:spPr>
        <p:txBody>
          <a:bodyPr/>
          <a:lstStyle/>
          <a:p>
            <a:pPr>
              <a:defRPr spc="-64" sz="6400"/>
            </a:pPr>
            <a:r>
              <a:t>Geethanjali College of Engineering</a:t>
            </a:r>
          </a:p>
          <a:p>
            <a:pPr>
              <a:defRPr spc="-21" sz="2100">
                <a:latin typeface="Futura Bold"/>
                <a:ea typeface="Futura Bold"/>
                <a:cs typeface="Futura Bold"/>
                <a:sym typeface="Futura Bold"/>
              </a:defRPr>
            </a:pPr>
          </a:p>
          <a:p>
            <a:pPr>
              <a:defRPr spc="-21" sz="2100">
                <a:latin typeface="Futura Bold"/>
                <a:ea typeface="Futura Bold"/>
                <a:cs typeface="Futura Bold"/>
                <a:sym typeface="Futura Bold"/>
              </a:defRPr>
            </a:pPr>
          </a:p>
          <a:p>
            <a:pPr>
              <a:defRPr spc="-34" sz="3400">
                <a:latin typeface="Futura Bold"/>
                <a:ea typeface="Futura Bold"/>
                <a:cs typeface="Futura Bold"/>
                <a:sym typeface="Futura Bold"/>
              </a:defRPr>
            </a:pPr>
            <a:r>
              <a:t>Design and Analysis of Algorithms </a:t>
            </a:r>
          </a:p>
          <a:p>
            <a:pPr>
              <a:defRPr spc="-21" sz="2100">
                <a:latin typeface="Avenir Next Heavy"/>
                <a:ea typeface="Avenir Next Heavy"/>
                <a:cs typeface="Avenir Next Heavy"/>
                <a:sym typeface="Avenir Next Heavy"/>
              </a:defRPr>
            </a:pPr>
          </a:p>
          <a:p>
            <a:pPr>
              <a:defRPr spc="-21" sz="2100">
                <a:latin typeface="Avenir Next Heavy"/>
                <a:ea typeface="Avenir Next Heavy"/>
                <a:cs typeface="Avenir Next Heavy"/>
                <a:sym typeface="Avenir Next Heavy"/>
              </a:defRPr>
            </a:pPr>
          </a:p>
          <a:p>
            <a:pPr>
              <a:defRPr b="1" spc="-34" sz="34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Topic :Dijkstra’s Algorithm </a:t>
            </a:r>
          </a:p>
        </p:txBody>
      </p:sp>
      <p:pic>
        <p:nvPicPr>
          <p:cNvPr id="172" name="1f187765efd8863f3c82584d04e7e215.jpg" descr="1f187765efd8863f3c82584d04e7e215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7430" y="2223126"/>
            <a:ext cx="3022184" cy="41965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hat is Dijkstra’s Algorithm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1" sz="6100"/>
            </a:lvl1pPr>
          </a:lstStyle>
          <a:p>
            <a:pPr/>
            <a:r>
              <a:t>What is Dijkstra’s Algorithm?</a:t>
            </a:r>
          </a:p>
        </p:txBody>
      </p:sp>
      <p:sp>
        <p:nvSpPr>
          <p:cNvPr id="175" name="• Proposed by Edsger W. Dijkstr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 u="sng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u="none">
                <a:solidFill>
                  <a:srgbClr val="111111"/>
                </a:solidFill>
              </a:rPr>
              <a:t>	•	Proposed by </a:t>
            </a:r>
            <a:r>
              <a:rPr u="none">
                <a:latin typeface="Avenir Heavy"/>
                <a:ea typeface="Avenir Heavy"/>
                <a:cs typeface="Avenir Heavy"/>
                <a:sym typeface="Avenir Heavy"/>
                <a:hlinkClick r:id="rId2" invalidUrl="" action="" tgtFrame="" tooltip="" history="1" highlightClick="0" endSnd="0"/>
              </a:rPr>
              <a:t>Edsger W. Dijkstra</a:t>
            </a:r>
            <a:endParaRPr u="none">
              <a:solidFill>
                <a:srgbClr val="111111"/>
              </a:solidFill>
            </a:endParaRP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Finds shortest paths from a source node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Works on </a:t>
            </a:r>
            <a:r>
              <a:rPr>
                <a:latin typeface="Avenir Heavy"/>
                <a:ea typeface="Avenir Heavy"/>
                <a:cs typeface="Avenir Heavy"/>
                <a:sym typeface="Avenir Heavy"/>
              </a:rPr>
              <a:t>non-negative weighted graphs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roblem State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1" sz="6100"/>
            </a:lvl1pPr>
          </a:lstStyle>
          <a:p>
            <a:pPr/>
            <a:r>
              <a:t>Problem Statement</a:t>
            </a:r>
          </a:p>
        </p:txBody>
      </p:sp>
      <p:sp>
        <p:nvSpPr>
          <p:cNvPr id="178" name="Input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Input:</a:t>
            </a:r>
          </a:p>
          <a:p>
            <a:pPr lvl="1" marL="419100" indent="38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Graph (V, E)</a:t>
            </a:r>
          </a:p>
          <a:p>
            <a:pPr lvl="1" marL="419100" indent="38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Source node</a:t>
            </a:r>
          </a:p>
          <a:p>
            <a:pPr marL="419100" indent="-419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Output:</a:t>
            </a:r>
          </a:p>
          <a:p>
            <a:pPr lvl="1" marL="419100" indent="38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317500" algn="r"/>
                <a:tab pos="419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Shortest distance to all nodes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ore Ide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1" sz="6100"/>
            </a:lvl1pPr>
          </a:lstStyle>
          <a:p>
            <a:pPr/>
            <a:r>
              <a:t>Core Idea</a:t>
            </a:r>
          </a:p>
        </p:txBody>
      </p:sp>
      <p:sp>
        <p:nvSpPr>
          <p:cNvPr id="181" name="• Greedy approach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Greedy approach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Always pick the minimum distance unvisited node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Relax edges (update distances)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💡 </a:t>
            </a:r>
            <a:r>
              <a:rPr>
                <a:latin typeface="Avenir Heavy"/>
                <a:ea typeface="Avenir Heavy"/>
                <a:cs typeface="Avenir Heavy"/>
                <a:sym typeface="Avenir Heavy"/>
              </a:rPr>
              <a:t>Think:</a:t>
            </a:r>
            <a:r>
              <a:t> expanding a ripple from the source 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Algorithm Step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1" sz="6100"/>
            </a:lvl1pPr>
          </a:lstStyle>
          <a:p>
            <a:pPr/>
            <a:r>
              <a:t>Algorithm Steps</a:t>
            </a:r>
          </a:p>
        </p:txBody>
      </p:sp>
      <p:sp>
        <p:nvSpPr>
          <p:cNvPr id="184" name="1. Initialize distances (∞, source = 0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 algn="just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1.	Initialize distances (∞, source = 0)</a:t>
            </a:r>
          </a:p>
          <a:p>
            <a:pPr marL="279400" indent="-279400" algn="just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2.	Use priority queue</a:t>
            </a:r>
          </a:p>
          <a:p>
            <a:pPr marL="279400" indent="-279400" algn="just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3.	Extract min distance node</a:t>
            </a:r>
          </a:p>
          <a:p>
            <a:pPr marL="279400" indent="-279400" algn="just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4.	Relax neighbors</a:t>
            </a:r>
          </a:p>
          <a:p>
            <a:pPr marL="279400" indent="-279400" algn="just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5.	Repeat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Example Grap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1" sz="6100"/>
            </a:lvl1pPr>
          </a:lstStyle>
          <a:p>
            <a:pPr/>
            <a:r>
              <a:t>Example Graph</a:t>
            </a:r>
          </a:p>
        </p:txBody>
      </p:sp>
      <p:pic>
        <p:nvPicPr>
          <p:cNvPr id="187" name="Screenshot 2026-04-06 at 3.13.14 PM.png" descr="Screenshot 2026-04-06 at 3.13.1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8729" y="4318000"/>
            <a:ext cx="10922001" cy="5080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Explanation:…"/>
          <p:cNvSpPr txBox="1"/>
          <p:nvPr>
            <p:ph type="body" sz="half" idx="1"/>
          </p:nvPr>
        </p:nvSpPr>
        <p:spPr>
          <a:xfrm>
            <a:off x="12873316" y="2616200"/>
            <a:ext cx="10202792" cy="8483600"/>
          </a:xfrm>
          <a:prstGeom prst="rect">
            <a:avLst/>
          </a:prstGeom>
        </p:spPr>
        <p:txBody>
          <a:bodyPr/>
          <a:lstStyle/>
          <a:p>
            <a:pPr marL="279400" indent="-279400" algn="just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111111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Explanation:</a:t>
            </a:r>
          </a:p>
          <a:p>
            <a:pPr marL="279400" indent="-279400" algn="just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177800" algn="r"/>
                <a:tab pos="2794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The Path starts from vertex V1 and the next vertex is chosen by the minimal edge from the vertex V1 and the process continues till all the vertexes are visited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seudoco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1" sz="6100"/>
            </a:lvl1pPr>
          </a:lstStyle>
          <a:p>
            <a:pPr/>
            <a:r>
              <a:t>Pseudocode</a:t>
            </a:r>
          </a:p>
        </p:txBody>
      </p:sp>
      <p:sp>
        <p:nvSpPr>
          <p:cNvPr id="191" name="Initialize dist[source] = 0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4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Initialize dist[source] = 0</a:t>
            </a:r>
          </a:p>
          <a:p>
            <a:pPr marL="0" indent="0">
              <a:buSzTx/>
              <a:buNone/>
              <a:defRPr sz="34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All others = ∞</a:t>
            </a:r>
          </a:p>
          <a:p>
            <a:pPr marL="0" indent="0">
              <a:buSzTx/>
              <a:buNone/>
              <a:defRPr sz="3400"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marL="0" indent="0">
              <a:buSzTx/>
              <a:buNone/>
              <a:defRPr sz="34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While PQ not empty:</a:t>
            </a:r>
          </a:p>
          <a:p>
            <a:pPr marL="0" indent="0">
              <a:buSzTx/>
              <a:buNone/>
              <a:defRPr sz="34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   u = node with min distance</a:t>
            </a:r>
          </a:p>
          <a:p>
            <a:pPr marL="0" indent="0">
              <a:buSzTx/>
              <a:buNone/>
              <a:defRPr sz="34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   </a:t>
            </a:r>
            <a:r>
              <a:rPr>
                <a:latin typeface="Avenir Heavy"/>
                <a:ea typeface="Avenir Heavy"/>
                <a:cs typeface="Avenir Heavy"/>
                <a:sym typeface="Avenir Heavy"/>
              </a:rPr>
              <a:t>for</a:t>
            </a:r>
            <a:r>
              <a:t> each neighbor v:</a:t>
            </a:r>
          </a:p>
          <a:p>
            <a:pPr marL="0" indent="0">
              <a:buSzTx/>
              <a:buNone/>
              <a:defRPr sz="34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       </a:t>
            </a:r>
            <a:r>
              <a:rPr>
                <a:latin typeface="Avenir Heavy"/>
                <a:ea typeface="Avenir Heavy"/>
                <a:cs typeface="Avenir Heavy"/>
                <a:sym typeface="Avenir Heavy"/>
              </a:rPr>
              <a:t>if</a:t>
            </a:r>
            <a:r>
              <a:rPr>
                <a:solidFill>
                  <a:schemeClr val="accent6">
                    <a:satOff val="12785"/>
                    <a:lumOff val="-23589"/>
                  </a:schemeClr>
                </a:solidFill>
                <a:latin typeface="Avenir Heavy"/>
                <a:ea typeface="Avenir Heavy"/>
                <a:cs typeface="Avenir Heavy"/>
                <a:sym typeface="Avenir Heavy"/>
              </a:rPr>
              <a:t> </a:t>
            </a:r>
            <a:r>
              <a:t>dist[u] + weight &lt; dist[v]:</a:t>
            </a:r>
          </a:p>
          <a:p>
            <a:pPr marL="0" indent="0">
              <a:buSzTx/>
              <a:buNone/>
              <a:defRPr sz="3400">
                <a:latin typeface="Avenir Book"/>
                <a:ea typeface="Avenir Book"/>
                <a:cs typeface="Avenir Book"/>
                <a:sym typeface="Avenir Book"/>
              </a:defRPr>
            </a:pPr>
            <a:r>
              <a:t>           update dist[v]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ime Complex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1" sz="6100"/>
            </a:lvl1pPr>
          </a:lstStyle>
          <a:p>
            <a:pPr/>
            <a:r>
              <a:t>Time Complexity</a:t>
            </a:r>
          </a:p>
        </p:txBody>
      </p:sp>
      <p:sp>
        <p:nvSpPr>
          <p:cNvPr id="194" name="• Without heap → O(V²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Without heap → O(V²)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With Min Heap → O((V + E) log V)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Edge Cas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1" sz="6100"/>
            </a:lvl1pPr>
          </a:lstStyle>
          <a:p>
            <a:pPr/>
            <a:r>
              <a:t>Edge Cases</a:t>
            </a:r>
          </a:p>
        </p:txBody>
      </p:sp>
      <p:sp>
        <p:nvSpPr>
          <p:cNvPr id="197" name="1. Negative Edge Weights ❌…"/>
          <p:cNvSpPr txBox="1"/>
          <p:nvPr>
            <p:ph type="body" sz="half" idx="1"/>
          </p:nvPr>
        </p:nvSpPr>
        <p:spPr>
          <a:xfrm>
            <a:off x="1219200" y="4013200"/>
            <a:ext cx="10672696" cy="8483600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00">
                <a:solidFill>
                  <a:srgbClr val="111111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1. Negative Edge Weights ❌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Dijkstra fails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Example: A → B (-5) breaks logic</a:t>
            </a:r>
          </a:p>
          <a:p>
            <a:pPr marL="165100" indent="0" defTabSz="127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👉 Use Bellman-Ford instead</a:t>
            </a:r>
          </a:p>
          <a:p>
            <a:pPr marL="165100" indent="0" defTabSz="127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00">
                <a:solidFill>
                  <a:srgbClr val="111111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2. Disconnected Graph 🌑</a:t>
            </a:r>
            <a:endParaRPr>
              <a:latin typeface="Avenir Book"/>
              <a:ea typeface="Avenir Book"/>
              <a:cs typeface="Avenir Book"/>
              <a:sym typeface="Avenir Book"/>
            </a:endParaRP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Some nodes remain at </a:t>
            </a:r>
            <a:r>
              <a:rPr>
                <a:latin typeface="Avenir Heavy"/>
                <a:ea typeface="Avenir Heavy"/>
                <a:cs typeface="Avenir Heavy"/>
                <a:sym typeface="Avenir Heavy"/>
              </a:rPr>
              <a:t>∞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Means: no path exists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00">
                <a:solidFill>
                  <a:srgbClr val="111111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3. Multiple Shortest Paths 🔀</a:t>
            </a:r>
            <a:endParaRPr>
              <a:latin typeface="Avenir Book"/>
              <a:ea typeface="Avenir Book"/>
              <a:cs typeface="Avenir Book"/>
              <a:sym typeface="Avenir Book"/>
            </a:endParaRP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Algorithm finds </a:t>
            </a:r>
            <a:r>
              <a:rPr>
                <a:latin typeface="Avenir Heavy"/>
                <a:ea typeface="Avenir Heavy"/>
                <a:cs typeface="Avenir Heavy"/>
                <a:sym typeface="Avenir Heavy"/>
              </a:rPr>
              <a:t>one</a:t>
            </a:r>
            <a:r>
              <a:t>, not all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Depends on traversal order</a:t>
            </a:r>
          </a:p>
        </p:txBody>
      </p:sp>
      <p:sp>
        <p:nvSpPr>
          <p:cNvPr id="198" name="4. Cycles in Graph 🔄…"/>
          <p:cNvSpPr txBox="1"/>
          <p:nvPr/>
        </p:nvSpPr>
        <p:spPr>
          <a:xfrm>
            <a:off x="12896515" y="3828524"/>
            <a:ext cx="10672696" cy="848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12700">
              <a:lnSpc>
                <a:spcPct val="135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00">
                <a:solidFill>
                  <a:srgbClr val="111111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4. Cycles in Graph 🔄</a:t>
            </a:r>
            <a:endParaRPr>
              <a:latin typeface="Avenir Book"/>
              <a:ea typeface="Avenir Book"/>
              <a:cs typeface="Avenir Book"/>
              <a:sym typeface="Avenir Book"/>
            </a:endParaRP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Works fine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3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But must avoid infinite loops using visited set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Limitations and Alternativ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1" sz="6100"/>
            </a:lvl1pPr>
          </a:lstStyle>
          <a:p>
            <a:pPr/>
            <a:r>
              <a:t>Limitations and Alternatives</a:t>
            </a:r>
          </a:p>
        </p:txBody>
      </p:sp>
      <p:sp>
        <p:nvSpPr>
          <p:cNvPr id="201" name="Limitations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Limitations:	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•	Cannot handle negative weights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Memory heavy for dense graphs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Alternatives: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Bellman-Ford → negative edges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buSzTx/>
              <a:buNone/>
              <a:tabLst>
                <a:tab pos="63500" algn="r"/>
                <a:tab pos="165100" algn="l"/>
              </a:tabLst>
              <a:defRPr sz="3400">
                <a:solidFill>
                  <a:srgbClr val="111111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	•	Floyd-Warshall → all pairs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